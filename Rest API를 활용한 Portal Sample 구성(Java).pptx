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6"/>
  </p:notesMasterIdLst>
  <p:sldIdLst>
    <p:sldId id="560" r:id="rId2"/>
    <p:sldId id="770" r:id="rId3"/>
    <p:sldId id="765" r:id="rId4"/>
    <p:sldId id="744" r:id="rId5"/>
    <p:sldId id="754" r:id="rId6"/>
    <p:sldId id="772" r:id="rId7"/>
    <p:sldId id="757" r:id="rId8"/>
    <p:sldId id="753" r:id="rId9"/>
    <p:sldId id="767" r:id="rId10"/>
    <p:sldId id="771" r:id="rId11"/>
    <p:sldId id="769" r:id="rId12"/>
    <p:sldId id="758" r:id="rId13"/>
    <p:sldId id="768" r:id="rId14"/>
    <p:sldId id="429" r:id="rId1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6068" userDrawn="1">
          <p15:clr>
            <a:srgbClr val="A4A3A4"/>
          </p15:clr>
        </p15:guide>
        <p15:guide id="5" pos="172" userDrawn="1">
          <p15:clr>
            <a:srgbClr val="A4A3A4"/>
          </p15:clr>
        </p15:guide>
        <p15:guide id="6" pos="3120" userDrawn="1">
          <p15:clr>
            <a:srgbClr val="A4A3A4"/>
          </p15:clr>
        </p15:guide>
        <p15:guide id="8" orient="horz" pos="4020" userDrawn="1">
          <p15:clr>
            <a:srgbClr val="A4A3A4"/>
          </p15:clr>
        </p15:guide>
        <p15:guide id="9" orient="horz" pos="1253" userDrawn="1">
          <p15:clr>
            <a:srgbClr val="A4A3A4"/>
          </p15:clr>
        </p15:guide>
        <p15:guide id="10" orient="horz" pos="255">
          <p15:clr>
            <a:srgbClr val="A4A3A4"/>
          </p15:clr>
        </p15:guide>
        <p15:guide id="11" orient="horz" pos="22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재영" initials="김재" lastIdx="1" clrIdx="0">
    <p:extLst>
      <p:ext uri="{19B8F6BF-5375-455C-9EA6-DF929625EA0E}">
        <p15:presenceInfo xmlns:p15="http://schemas.microsoft.com/office/powerpoint/2012/main" userId="c86855094a70816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F81"/>
    <a:srgbClr val="C8CDD3"/>
    <a:srgbClr val="3B3A7E"/>
    <a:srgbClr val="00B0F0"/>
    <a:srgbClr val="0033CC"/>
    <a:srgbClr val="606060"/>
    <a:srgbClr val="D0D0D0"/>
    <a:srgbClr val="E7E7E7"/>
    <a:srgbClr val="90909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9" autoAdjust="0"/>
    <p:restoredTop sz="88518" autoAdjust="0"/>
  </p:normalViewPr>
  <p:slideViewPr>
    <p:cSldViewPr>
      <p:cViewPr>
        <p:scale>
          <a:sx n="150" d="100"/>
          <a:sy n="150" d="100"/>
        </p:scale>
        <p:origin x="1782" y="-138"/>
      </p:cViewPr>
      <p:guideLst>
        <p:guide pos="6068"/>
        <p:guide pos="172"/>
        <p:guide pos="3120"/>
        <p:guide orient="horz" pos="4020"/>
        <p:guide orient="horz" pos="1253"/>
        <p:guide orient="horz" pos="255"/>
        <p:guide orient="horz" pos="22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0" d="100"/>
        <a:sy n="160" d="100"/>
      </p:scale>
      <p:origin x="0" y="-4728"/>
    </p:cViewPr>
  </p:sorterViewPr>
  <p:notesViewPr>
    <p:cSldViewPr>
      <p:cViewPr varScale="1">
        <p:scale>
          <a:sx n="98" d="100"/>
          <a:sy n="98" d="100"/>
        </p:scale>
        <p:origin x="237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4-15T14:21:22.93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2788-DA83-4B21-AFCE-E7E3CF08BA6D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7CB07-15CD-4F41-8E40-98ADF04F7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89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00EA53-349B-4248-B864-36474BAC9BED}" type="slidenum">
              <a:rPr kumimoji="1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763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760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70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Html : </a:t>
            </a:r>
            <a:r>
              <a:rPr lang="ko-KR" altLang="en-US" baseline="0" dirty="0"/>
              <a:t>문서의 뼈대</a:t>
            </a:r>
            <a:endParaRPr lang="en-US" altLang="ko-KR" baseline="0" dirty="0"/>
          </a:p>
          <a:p>
            <a:r>
              <a:rPr lang="en-US" altLang="ko-KR" baseline="0" dirty="0" err="1"/>
              <a:t>Css</a:t>
            </a:r>
            <a:r>
              <a:rPr lang="en-US" altLang="ko-KR" baseline="0" dirty="0"/>
              <a:t> : </a:t>
            </a:r>
            <a:r>
              <a:rPr lang="ko-KR" altLang="en-US" baseline="0" dirty="0"/>
              <a:t>화면의 디자인 제어</a:t>
            </a:r>
            <a:r>
              <a:rPr lang="en-US" altLang="ko-KR" baseline="0" dirty="0"/>
              <a:t>(html </a:t>
            </a:r>
            <a:r>
              <a:rPr lang="ko-KR" altLang="en-US" baseline="0" dirty="0"/>
              <a:t>을 화장시키는 역할</a:t>
            </a:r>
            <a:r>
              <a:rPr lang="en-US" altLang="ko-KR" baseline="0" dirty="0"/>
              <a:t>)</a:t>
            </a:r>
          </a:p>
          <a:p>
            <a:r>
              <a:rPr lang="en-US" altLang="ko-KR" baseline="0" dirty="0" err="1"/>
              <a:t>Scss</a:t>
            </a:r>
            <a:r>
              <a:rPr lang="en-US" altLang="ko-KR" baseline="0" dirty="0"/>
              <a:t> : </a:t>
            </a:r>
            <a:r>
              <a:rPr lang="ko-KR" altLang="en-US" baseline="0" dirty="0"/>
              <a:t>화면의 디자인 제어 </a:t>
            </a:r>
            <a:r>
              <a:rPr lang="en-US" altLang="ko-KR" baseline="0" dirty="0"/>
              <a:t>(</a:t>
            </a:r>
            <a:r>
              <a:rPr lang="en-US" altLang="ko-KR" baseline="0" dirty="0" err="1"/>
              <a:t>css</a:t>
            </a:r>
            <a:r>
              <a:rPr lang="en-US" altLang="ko-KR" baseline="0" dirty="0"/>
              <a:t> </a:t>
            </a:r>
            <a:r>
              <a:rPr lang="ko-KR" altLang="en-US" baseline="0" dirty="0"/>
              <a:t>와 유사</a:t>
            </a:r>
            <a:r>
              <a:rPr lang="en-US" altLang="ko-KR" baseline="0" dirty="0"/>
              <a:t>)</a:t>
            </a:r>
          </a:p>
          <a:p>
            <a:r>
              <a:rPr lang="en-US" altLang="ko-KR" baseline="0" dirty="0"/>
              <a:t>JS : </a:t>
            </a:r>
            <a:r>
              <a:rPr lang="ko-KR" altLang="en-US" baseline="0" dirty="0"/>
              <a:t>자바스크립트 소스 파일 화면의 동적인 움직임 제어</a:t>
            </a: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65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92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00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725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  <a:p>
            <a:endParaRPr lang="en-US" altLang="ko-KR" baseline="0" dirty="0"/>
          </a:p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10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06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CB07-15CD-4F41-8E40-98ADF04F724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281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45"/>
            <a:ext cx="9906000" cy="6857999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-1" y="6703748"/>
            <a:ext cx="9906000" cy="156295"/>
          </a:xfrm>
          <a:prstGeom prst="rect">
            <a:avLst/>
          </a:prstGeom>
          <a:solidFill>
            <a:srgbClr val="4CC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0" name="Rectangle 10"/>
          <p:cNvSpPr/>
          <p:nvPr userDrawn="1"/>
        </p:nvSpPr>
        <p:spPr>
          <a:xfrm>
            <a:off x="1" y="2896915"/>
            <a:ext cx="1391731" cy="445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11" name="Right Triangle 13"/>
          <p:cNvSpPr/>
          <p:nvPr/>
        </p:nvSpPr>
        <p:spPr>
          <a:xfrm>
            <a:off x="1391732" y="2896915"/>
            <a:ext cx="458720" cy="44711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" name="Right Triangle 15"/>
          <p:cNvSpPr/>
          <p:nvPr/>
        </p:nvSpPr>
        <p:spPr>
          <a:xfrm rot="10800000">
            <a:off x="9447280" y="120088"/>
            <a:ext cx="458720" cy="44711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" name="Rectangle 3"/>
          <p:cNvSpPr/>
          <p:nvPr/>
        </p:nvSpPr>
        <p:spPr>
          <a:xfrm>
            <a:off x="0" y="2044"/>
            <a:ext cx="9906000" cy="143017"/>
          </a:xfrm>
          <a:prstGeom prst="rect">
            <a:avLst/>
          </a:prstGeom>
          <a:solidFill>
            <a:srgbClr val="4CC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4" name="Rectangle 16"/>
          <p:cNvSpPr/>
          <p:nvPr/>
        </p:nvSpPr>
        <p:spPr>
          <a:xfrm flipV="1">
            <a:off x="-1" y="0"/>
            <a:ext cx="3027476" cy="145060"/>
          </a:xfrm>
          <a:prstGeom prst="rect">
            <a:avLst/>
          </a:prstGeom>
          <a:solidFill>
            <a:srgbClr val="3B3A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5" name="Rectangle 17"/>
          <p:cNvSpPr/>
          <p:nvPr/>
        </p:nvSpPr>
        <p:spPr>
          <a:xfrm flipV="1">
            <a:off x="7390659" y="6703747"/>
            <a:ext cx="2515339" cy="156296"/>
          </a:xfrm>
          <a:prstGeom prst="rect">
            <a:avLst/>
          </a:prstGeom>
          <a:solidFill>
            <a:srgbClr val="3B3A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3" name="부제 2"/>
          <p:cNvSpPr>
            <a:spLocks noGrp="1"/>
          </p:cNvSpPr>
          <p:nvPr userDrawn="1">
            <p:ph type="subTitle" idx="1"/>
          </p:nvPr>
        </p:nvSpPr>
        <p:spPr>
          <a:xfrm>
            <a:off x="1850453" y="4528217"/>
            <a:ext cx="7705878" cy="90578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/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10" indent="0" algn="ctr">
              <a:buNone/>
              <a:defRPr sz="1601"/>
            </a:lvl4pPr>
            <a:lvl5pPr marL="1828812" indent="0" algn="ctr">
              <a:buNone/>
              <a:defRPr sz="1601"/>
            </a:lvl5pPr>
            <a:lvl6pPr marL="2286015" indent="0" algn="ctr">
              <a:buNone/>
              <a:defRPr sz="1601"/>
            </a:lvl6pPr>
            <a:lvl7pPr marL="2743218" indent="0" algn="ctr">
              <a:buNone/>
              <a:defRPr sz="1601"/>
            </a:lvl7pPr>
            <a:lvl8pPr marL="3200421" indent="0" algn="ctr">
              <a:buNone/>
              <a:defRPr sz="1601"/>
            </a:lvl8pPr>
            <a:lvl9pPr marL="3657624" indent="0" algn="ctr">
              <a:buNone/>
              <a:defRPr sz="1601"/>
            </a:lvl9pPr>
          </a:lstStyle>
          <a:p>
            <a:r>
              <a:rPr kumimoji="1"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 userDrawn="1">
            <p:ph type="dt" sz="half" idx="10"/>
          </p:nvPr>
        </p:nvSpPr>
        <p:spPr>
          <a:xfrm>
            <a:off x="83979" y="2921871"/>
            <a:ext cx="1416806" cy="364359"/>
          </a:xfrm>
          <a:prstGeom prst="rect">
            <a:avLst/>
          </a:prstGeom>
        </p:spPr>
        <p:txBody>
          <a:bodyPr/>
          <a:lstStyle>
            <a:lvl1pPr>
              <a:defRPr sz="1500" b="1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Rectangle 8"/>
          <p:cNvSpPr/>
          <p:nvPr userDrawn="1"/>
        </p:nvSpPr>
        <p:spPr>
          <a:xfrm>
            <a:off x="269123" y="5877272"/>
            <a:ext cx="7292154" cy="735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BarunGothicOTF" charset="-127"/>
              </a:rPr>
              <a:t>Copyright © 2016 by PLANIT  ALL RIGHTS RESERVED.</a:t>
            </a:r>
          </a:p>
          <a:p>
            <a:pPr marL="0" marR="0" lvl="0" indent="0" algn="l" defTabSz="914400" rtl="0" eaLnBrk="1" fontAlgn="auto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BarunGothicOTF Light" charset="-127"/>
              </a:rPr>
              <a:t>No part of this publication may be reproduced, stored in a retrieval system, 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BarunGothicOTF Light" charset="-127"/>
              </a:rPr>
            </a:b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BarunGothicOTF Light" charset="-127"/>
              </a:rPr>
              <a:t>or transmitted in any form or by any means electronic, mechanical, photocopying, recording, 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BarunGothicOTF Light" charset="-127"/>
              </a:rPr>
            </a:b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NanumBarunGothicOTF Light" charset="-127"/>
              </a:rPr>
              <a:t>or otherwise without the permission of PLANIT</a:t>
            </a:r>
          </a:p>
        </p:txBody>
      </p:sp>
      <p:pic>
        <p:nvPicPr>
          <p:cNvPr id="18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0399" y="6026887"/>
            <a:ext cx="1610941" cy="57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3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9246" y="637031"/>
            <a:ext cx="9368976" cy="428187"/>
          </a:xfrm>
        </p:spPr>
        <p:txBody>
          <a:bodyPr lIns="36000" rIns="36000">
            <a:normAutofit/>
          </a:bodyPr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grpSp>
        <p:nvGrpSpPr>
          <p:cNvPr id="6" name="Group 1"/>
          <p:cNvGrpSpPr/>
          <p:nvPr userDrawn="1"/>
        </p:nvGrpSpPr>
        <p:grpSpPr>
          <a:xfrm>
            <a:off x="269247" y="495757"/>
            <a:ext cx="9368976" cy="6284888"/>
            <a:chOff x="290605" y="546480"/>
            <a:chExt cx="10112189" cy="6927925"/>
          </a:xfrm>
        </p:grpSpPr>
        <p:sp>
          <p:nvSpPr>
            <p:cNvPr id="7" name="Rectangle 3"/>
            <p:cNvSpPr/>
            <p:nvPr/>
          </p:nvSpPr>
          <p:spPr>
            <a:xfrm>
              <a:off x="290605" y="546480"/>
              <a:ext cx="10112189" cy="112426"/>
            </a:xfrm>
            <a:prstGeom prst="rect">
              <a:avLst/>
            </a:prstGeom>
            <a:solidFill>
              <a:srgbClr val="4CC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089587" y="546480"/>
              <a:ext cx="3313207" cy="112426"/>
            </a:xfrm>
            <a:prstGeom prst="rect">
              <a:avLst/>
            </a:prstGeom>
            <a:solidFill>
              <a:srgbClr val="3B3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pic>
          <p:nvPicPr>
            <p:cNvPr id="10" name="Picture 1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13987" y="7117827"/>
              <a:ext cx="980590" cy="356578"/>
            </a:xfrm>
            <a:prstGeom prst="rect">
              <a:avLst/>
            </a:prstGeom>
          </p:spPr>
        </p:pic>
      </p:grpSp>
      <p:sp>
        <p:nvSpPr>
          <p:cNvPr id="15" name="텍스트 개체 틀 2"/>
          <p:cNvSpPr>
            <a:spLocks noGrp="1"/>
          </p:cNvSpPr>
          <p:nvPr>
            <p:ph type="body" idx="13"/>
          </p:nvPr>
        </p:nvSpPr>
        <p:spPr>
          <a:xfrm>
            <a:off x="269247" y="205856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10" indent="0">
              <a:buNone/>
              <a:defRPr sz="1601" b="1"/>
            </a:lvl4pPr>
            <a:lvl5pPr marL="1828812" indent="0">
              <a:buNone/>
              <a:defRPr sz="1601" b="1"/>
            </a:lvl5pPr>
            <a:lvl6pPr marL="2286015" indent="0">
              <a:buNone/>
              <a:defRPr sz="1601" b="1"/>
            </a:lvl6pPr>
            <a:lvl7pPr marL="2743218" indent="0">
              <a:buNone/>
              <a:defRPr sz="1601" b="1"/>
            </a:lvl7pPr>
            <a:lvl8pPr marL="3200421" indent="0">
              <a:buNone/>
              <a:defRPr sz="1601" b="1"/>
            </a:lvl8pPr>
            <a:lvl9pPr marL="3657624" indent="0">
              <a:buNone/>
              <a:defRPr sz="1601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16" name="텍스트 개체 틀 2"/>
          <p:cNvSpPr>
            <a:spLocks noGrp="1"/>
          </p:cNvSpPr>
          <p:nvPr>
            <p:ph type="body" idx="14"/>
          </p:nvPr>
        </p:nvSpPr>
        <p:spPr>
          <a:xfrm>
            <a:off x="5048695" y="205856"/>
            <a:ext cx="458952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None/>
              <a:defRPr sz="1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10" indent="0">
              <a:buNone/>
              <a:defRPr sz="1601" b="1"/>
            </a:lvl4pPr>
            <a:lvl5pPr marL="1828812" indent="0">
              <a:buNone/>
              <a:defRPr sz="1601" b="1"/>
            </a:lvl5pPr>
            <a:lvl6pPr marL="2286015" indent="0">
              <a:buNone/>
              <a:defRPr sz="1601" b="1"/>
            </a:lvl6pPr>
            <a:lvl7pPr marL="2743218" indent="0">
              <a:buNone/>
              <a:defRPr sz="1601" b="1"/>
            </a:lvl7pPr>
            <a:lvl8pPr marL="3200421" indent="0">
              <a:buNone/>
              <a:defRPr sz="1601" b="1"/>
            </a:lvl8pPr>
            <a:lvl9pPr marL="3657624" indent="0">
              <a:buNone/>
              <a:defRPr sz="1601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11" name="Rectangle 133"/>
          <p:cNvSpPr>
            <a:spLocks noChangeArrowheads="1"/>
          </p:cNvSpPr>
          <p:nvPr userDrawn="1"/>
        </p:nvSpPr>
        <p:spPr bwMode="auto">
          <a:xfrm>
            <a:off x="4808984" y="6674877"/>
            <a:ext cx="32060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- </a:t>
            </a:r>
            <a:fld id="{EE10E9CF-FFF3-4433-9FA9-E23380789C93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pPr marL="0" marR="0" lvl="0" indent="0" algn="ctr" defTabSz="104305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99808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"/>
          <p:cNvGrpSpPr/>
          <p:nvPr userDrawn="1"/>
        </p:nvGrpSpPr>
        <p:grpSpPr>
          <a:xfrm>
            <a:off x="269247" y="495757"/>
            <a:ext cx="9368976" cy="6284888"/>
            <a:chOff x="290605" y="546480"/>
            <a:chExt cx="10112189" cy="6927925"/>
          </a:xfrm>
        </p:grpSpPr>
        <p:sp>
          <p:nvSpPr>
            <p:cNvPr id="7" name="Rectangle 3"/>
            <p:cNvSpPr/>
            <p:nvPr/>
          </p:nvSpPr>
          <p:spPr>
            <a:xfrm>
              <a:off x="290605" y="546480"/>
              <a:ext cx="10112189" cy="112426"/>
            </a:xfrm>
            <a:prstGeom prst="rect">
              <a:avLst/>
            </a:prstGeom>
            <a:solidFill>
              <a:srgbClr val="4CC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089587" y="546480"/>
              <a:ext cx="3313207" cy="112426"/>
            </a:xfrm>
            <a:prstGeom prst="rect">
              <a:avLst/>
            </a:prstGeom>
            <a:solidFill>
              <a:srgbClr val="3B3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pic>
          <p:nvPicPr>
            <p:cNvPr id="10" name="Picture 1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13987" y="7117827"/>
              <a:ext cx="980590" cy="356578"/>
            </a:xfrm>
            <a:prstGeom prst="rect">
              <a:avLst/>
            </a:prstGeom>
          </p:spPr>
        </p:pic>
      </p:grpSp>
      <p:sp>
        <p:nvSpPr>
          <p:cNvPr id="15" name="텍스트 개체 틀 2"/>
          <p:cNvSpPr>
            <a:spLocks noGrp="1"/>
          </p:cNvSpPr>
          <p:nvPr>
            <p:ph type="body" idx="13"/>
          </p:nvPr>
        </p:nvSpPr>
        <p:spPr>
          <a:xfrm>
            <a:off x="269247" y="205856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10" indent="0">
              <a:buNone/>
              <a:defRPr sz="1601" b="1"/>
            </a:lvl4pPr>
            <a:lvl5pPr marL="1828812" indent="0">
              <a:buNone/>
              <a:defRPr sz="1601" b="1"/>
            </a:lvl5pPr>
            <a:lvl6pPr marL="2286015" indent="0">
              <a:buNone/>
              <a:defRPr sz="1601" b="1"/>
            </a:lvl6pPr>
            <a:lvl7pPr marL="2743218" indent="0">
              <a:buNone/>
              <a:defRPr sz="1601" b="1"/>
            </a:lvl7pPr>
            <a:lvl8pPr marL="3200421" indent="0">
              <a:buNone/>
              <a:defRPr sz="1601" b="1"/>
            </a:lvl8pPr>
            <a:lvl9pPr marL="3657624" indent="0">
              <a:buNone/>
              <a:defRPr sz="1601" b="1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269246" y="637031"/>
            <a:ext cx="9368976" cy="428187"/>
          </a:xfrm>
        </p:spPr>
        <p:txBody>
          <a:bodyPr lIns="36000" rIns="36000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13" name="Rectangle 133"/>
          <p:cNvSpPr>
            <a:spLocks noChangeArrowheads="1"/>
          </p:cNvSpPr>
          <p:nvPr userDrawn="1"/>
        </p:nvSpPr>
        <p:spPr bwMode="auto">
          <a:xfrm>
            <a:off x="4808984" y="6674877"/>
            <a:ext cx="32060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- </a:t>
            </a:r>
            <a:fld id="{EE10E9CF-FFF3-4433-9FA9-E23380789C93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pPr marL="0" marR="0" lvl="0" indent="0" algn="ctr" defTabSz="104305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 -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3"/>
          <a:srcRect l="3574" t="2614" r="7342" b="9785"/>
          <a:stretch/>
        </p:blipFill>
        <p:spPr>
          <a:xfrm>
            <a:off x="242163" y="6439944"/>
            <a:ext cx="109350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94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"/>
          <p:cNvGrpSpPr/>
          <p:nvPr userDrawn="1"/>
        </p:nvGrpSpPr>
        <p:grpSpPr>
          <a:xfrm>
            <a:off x="269247" y="495757"/>
            <a:ext cx="9368976" cy="6284888"/>
            <a:chOff x="290605" y="546480"/>
            <a:chExt cx="10112189" cy="6927925"/>
          </a:xfrm>
        </p:grpSpPr>
        <p:sp>
          <p:nvSpPr>
            <p:cNvPr id="7" name="Rectangle 3"/>
            <p:cNvSpPr/>
            <p:nvPr/>
          </p:nvSpPr>
          <p:spPr>
            <a:xfrm>
              <a:off x="290605" y="546480"/>
              <a:ext cx="10112189" cy="112426"/>
            </a:xfrm>
            <a:prstGeom prst="rect">
              <a:avLst/>
            </a:prstGeom>
            <a:solidFill>
              <a:srgbClr val="4CC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089587" y="546480"/>
              <a:ext cx="3313207" cy="112426"/>
            </a:xfrm>
            <a:prstGeom prst="rect">
              <a:avLst/>
            </a:prstGeom>
            <a:solidFill>
              <a:srgbClr val="3B3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pic>
          <p:nvPicPr>
            <p:cNvPr id="10" name="Picture 1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13987" y="7117827"/>
              <a:ext cx="980590" cy="356578"/>
            </a:xfrm>
            <a:prstGeom prst="rect">
              <a:avLst/>
            </a:prstGeom>
          </p:spPr>
        </p:pic>
      </p:grp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269246" y="637031"/>
            <a:ext cx="9368976" cy="428187"/>
          </a:xfrm>
        </p:spPr>
        <p:txBody>
          <a:bodyPr lIns="36000" rIns="36000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8" name="Rectangle 133"/>
          <p:cNvSpPr>
            <a:spLocks noChangeArrowheads="1"/>
          </p:cNvSpPr>
          <p:nvPr userDrawn="1"/>
        </p:nvSpPr>
        <p:spPr bwMode="auto">
          <a:xfrm>
            <a:off x="4808984" y="6674877"/>
            <a:ext cx="32060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- </a:t>
            </a:r>
            <a:fld id="{EE10E9CF-FFF3-4433-9FA9-E23380789C93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pPr marL="0" marR="0" lvl="0" indent="0" algn="ctr" defTabSz="104305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 -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3"/>
          <a:srcRect l="3574" t="2614" r="7342" b="9785"/>
          <a:stretch/>
        </p:blipFill>
        <p:spPr>
          <a:xfrm>
            <a:off x="242163" y="6439944"/>
            <a:ext cx="109350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2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"/>
          <p:cNvGrpSpPr/>
          <p:nvPr userDrawn="1"/>
        </p:nvGrpSpPr>
        <p:grpSpPr>
          <a:xfrm>
            <a:off x="269247" y="495757"/>
            <a:ext cx="9368976" cy="6284888"/>
            <a:chOff x="290605" y="546480"/>
            <a:chExt cx="10112189" cy="6927925"/>
          </a:xfrm>
        </p:grpSpPr>
        <p:sp>
          <p:nvSpPr>
            <p:cNvPr id="7" name="Rectangle 3"/>
            <p:cNvSpPr/>
            <p:nvPr/>
          </p:nvSpPr>
          <p:spPr>
            <a:xfrm>
              <a:off x="290605" y="546480"/>
              <a:ext cx="10112189" cy="112426"/>
            </a:xfrm>
            <a:prstGeom prst="rect">
              <a:avLst/>
            </a:prstGeom>
            <a:solidFill>
              <a:srgbClr val="4CC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089587" y="546480"/>
              <a:ext cx="3313207" cy="112426"/>
            </a:xfrm>
            <a:prstGeom prst="rect">
              <a:avLst/>
            </a:prstGeom>
            <a:solidFill>
              <a:srgbClr val="3B3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pic>
          <p:nvPicPr>
            <p:cNvPr id="10" name="Picture 1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13987" y="7117827"/>
              <a:ext cx="980590" cy="356578"/>
            </a:xfrm>
            <a:prstGeom prst="rect">
              <a:avLst/>
            </a:prstGeom>
          </p:spPr>
        </p:pic>
      </p:grpSp>
      <p:sp>
        <p:nvSpPr>
          <p:cNvPr id="15" name="텍스트 개체 틀 2"/>
          <p:cNvSpPr>
            <a:spLocks noGrp="1"/>
          </p:cNvSpPr>
          <p:nvPr>
            <p:ph type="body" idx="13"/>
          </p:nvPr>
        </p:nvSpPr>
        <p:spPr>
          <a:xfrm>
            <a:off x="269247" y="205856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10" indent="0">
              <a:buNone/>
              <a:defRPr sz="1601" b="1"/>
            </a:lvl4pPr>
            <a:lvl5pPr marL="1828812" indent="0">
              <a:buNone/>
              <a:defRPr sz="1601" b="1"/>
            </a:lvl5pPr>
            <a:lvl6pPr marL="2286015" indent="0">
              <a:buNone/>
              <a:defRPr sz="1601" b="1"/>
            </a:lvl6pPr>
            <a:lvl7pPr marL="2743218" indent="0">
              <a:buNone/>
              <a:defRPr sz="1601" b="1"/>
            </a:lvl7pPr>
            <a:lvl8pPr marL="3200421" indent="0">
              <a:buNone/>
              <a:defRPr sz="1601" b="1"/>
            </a:lvl8pPr>
            <a:lvl9pPr marL="3657624" indent="0">
              <a:buNone/>
              <a:defRPr sz="1601" b="1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8" name="Rectangle 133"/>
          <p:cNvSpPr>
            <a:spLocks noChangeArrowheads="1"/>
          </p:cNvSpPr>
          <p:nvPr userDrawn="1"/>
        </p:nvSpPr>
        <p:spPr bwMode="auto">
          <a:xfrm>
            <a:off x="4808984" y="6674877"/>
            <a:ext cx="32060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- </a:t>
            </a:r>
            <a:fld id="{EE10E9CF-FFF3-4433-9FA9-E23380789C93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pPr marL="0" marR="0" lvl="0" indent="0" algn="ctr" defTabSz="104305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 -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/>
          <a:srcRect l="3574" t="2614" r="7342" b="9785"/>
          <a:stretch/>
        </p:blipFill>
        <p:spPr>
          <a:xfrm>
            <a:off x="242163" y="6439944"/>
            <a:ext cx="109350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본문_제목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33"/>
          <p:cNvSpPr>
            <a:spLocks noChangeArrowheads="1"/>
          </p:cNvSpPr>
          <p:nvPr userDrawn="1"/>
        </p:nvSpPr>
        <p:spPr bwMode="auto">
          <a:xfrm>
            <a:off x="4808984" y="6674877"/>
            <a:ext cx="32060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- </a:t>
            </a:r>
            <a:fld id="{EE10E9CF-FFF3-4433-9FA9-E23380789C93}" type="slidenum">
              <a:rPr kumimoji="0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pPr marL="0" marR="0" lvl="0" indent="0" algn="ctr" defTabSz="104305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4113139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마지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/>
          <p:cNvGrpSpPr/>
          <p:nvPr userDrawn="1"/>
        </p:nvGrpSpPr>
        <p:grpSpPr>
          <a:xfrm>
            <a:off x="-1" y="-2041"/>
            <a:ext cx="9906001" cy="6860043"/>
            <a:chOff x="-1" y="-2252"/>
            <a:chExt cx="10691814" cy="7561927"/>
          </a:xfrm>
        </p:grpSpPr>
        <p:sp>
          <p:nvSpPr>
            <p:cNvPr id="4" name="Rectangle 1"/>
            <p:cNvSpPr/>
            <p:nvPr/>
          </p:nvSpPr>
          <p:spPr>
            <a:xfrm>
              <a:off x="-1" y="7387389"/>
              <a:ext cx="10691813" cy="172286"/>
            </a:xfrm>
            <a:prstGeom prst="rect">
              <a:avLst/>
            </a:prstGeom>
            <a:solidFill>
              <a:srgbClr val="4CC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2"/>
            <p:cNvSpPr/>
            <p:nvPr/>
          </p:nvSpPr>
          <p:spPr>
            <a:xfrm>
              <a:off x="0" y="1"/>
              <a:ext cx="10691813" cy="157650"/>
            </a:xfrm>
            <a:prstGeom prst="rect">
              <a:avLst/>
            </a:prstGeom>
            <a:solidFill>
              <a:srgbClr val="4CC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3"/>
            <p:cNvSpPr/>
            <p:nvPr/>
          </p:nvSpPr>
          <p:spPr>
            <a:xfrm flipV="1">
              <a:off x="-1" y="-2252"/>
              <a:ext cx="3267636" cy="159902"/>
            </a:xfrm>
            <a:prstGeom prst="rect">
              <a:avLst/>
            </a:prstGeom>
            <a:solidFill>
              <a:srgbClr val="3B3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4"/>
            <p:cNvSpPr/>
            <p:nvPr/>
          </p:nvSpPr>
          <p:spPr>
            <a:xfrm flipV="1">
              <a:off x="7976938" y="7387387"/>
              <a:ext cx="2714873" cy="172287"/>
            </a:xfrm>
            <a:prstGeom prst="rect">
              <a:avLst/>
            </a:prstGeom>
            <a:solidFill>
              <a:srgbClr val="3B3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3174" y="2104913"/>
            <a:ext cx="1954729" cy="1743705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38" y="4125548"/>
            <a:ext cx="99059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6417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69248" y="617740"/>
            <a:ext cx="9368977" cy="428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grpSp>
        <p:nvGrpSpPr>
          <p:cNvPr id="12" name="Group 1"/>
          <p:cNvGrpSpPr/>
          <p:nvPr userDrawn="1"/>
        </p:nvGrpSpPr>
        <p:grpSpPr>
          <a:xfrm>
            <a:off x="269247" y="495757"/>
            <a:ext cx="9368976" cy="6284888"/>
            <a:chOff x="290605" y="546480"/>
            <a:chExt cx="10112189" cy="6927925"/>
          </a:xfrm>
        </p:grpSpPr>
        <p:sp>
          <p:nvSpPr>
            <p:cNvPr id="13" name="Rectangle 3"/>
            <p:cNvSpPr/>
            <p:nvPr/>
          </p:nvSpPr>
          <p:spPr>
            <a:xfrm>
              <a:off x="290605" y="546480"/>
              <a:ext cx="10112189" cy="112426"/>
            </a:xfrm>
            <a:prstGeom prst="rect">
              <a:avLst/>
            </a:prstGeom>
            <a:solidFill>
              <a:srgbClr val="4CC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8"/>
            <p:cNvSpPr/>
            <p:nvPr/>
          </p:nvSpPr>
          <p:spPr>
            <a:xfrm>
              <a:off x="7089587" y="546480"/>
              <a:ext cx="3313207" cy="112426"/>
            </a:xfrm>
            <a:prstGeom prst="rect">
              <a:avLst/>
            </a:prstGeom>
            <a:solidFill>
              <a:srgbClr val="3B3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5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pic>
          <p:nvPicPr>
            <p:cNvPr id="16" name="Picture 11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13987" y="7117827"/>
              <a:ext cx="980590" cy="356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935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70" r:id="rId7"/>
  </p:sldLayoutIdLst>
  <p:hf hdr="0" ftr="0"/>
  <p:txStyles>
    <p:titleStyle>
      <a:lvl1pPr algn="l" defTabSz="914406" rtl="0" eaLnBrk="1" latinLnBrk="1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2" indent="-228602" algn="l" defTabSz="914406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5" indent="-228602" algn="l" defTabSz="914406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8" indent="-228602" algn="l" defTabSz="914406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0" indent="-228602" algn="l" defTabSz="914406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13" indent="-228602" algn="l" defTabSz="914406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6" indent="-228602" algn="l" defTabSz="914406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20" indent="-228602" algn="l" defTabSz="914406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3" indent="-228602" algn="l" defTabSz="914406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6" indent="-228602" algn="l" defTabSz="914406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amu.wiki/w/CS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namu.wiki/w/JavaScript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831668" y="2896914"/>
            <a:ext cx="8739701" cy="1506942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3400" dirty="0"/>
              <a:t>Rest API</a:t>
            </a:r>
            <a:r>
              <a:rPr kumimoji="1" lang="ko-KR" altLang="en-US" sz="3400" dirty="0"/>
              <a:t>를 활용한 </a:t>
            </a:r>
            <a:r>
              <a:rPr kumimoji="1" lang="en-US" altLang="ko-KR" sz="3400" dirty="0"/>
              <a:t>Portal Sample </a:t>
            </a:r>
            <a:r>
              <a:rPr kumimoji="1" lang="ko-KR" altLang="en-US" sz="3400" dirty="0"/>
              <a:t>구성</a:t>
            </a:r>
            <a:r>
              <a:rPr kumimoji="1" lang="en-US" altLang="ko-KR" sz="3400" dirty="0"/>
              <a:t>(</a:t>
            </a:r>
            <a:r>
              <a:rPr kumimoji="1" lang="en-US" altLang="ko-KR" sz="3400" dirty="0" err="1"/>
              <a:t>Javja</a:t>
            </a:r>
            <a:r>
              <a:rPr kumimoji="1" lang="en-US" altLang="ko-KR" sz="3400" dirty="0"/>
              <a:t>)</a:t>
            </a:r>
            <a:endParaRPr kumimoji="1" lang="ko-KR" altLang="en-US" sz="12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850453" y="4528217"/>
            <a:ext cx="7720916" cy="905789"/>
          </a:xfrm>
        </p:spPr>
        <p:txBody>
          <a:bodyPr/>
          <a:lstStyle/>
          <a:p>
            <a:r>
              <a:rPr kumimoji="1" lang="en-US" altLang="ko-KR" dirty="0"/>
              <a:t>Python 3.x with Tableau Server 2018.1</a:t>
            </a:r>
          </a:p>
          <a:p>
            <a:r>
              <a:rPr kumimoji="1" lang="ko-KR" altLang="en-US" dirty="0"/>
              <a:t>발표자 </a:t>
            </a:r>
            <a:r>
              <a:rPr kumimoji="1" lang="en-US" altLang="ko-KR" dirty="0"/>
              <a:t>: </a:t>
            </a:r>
            <a:r>
              <a:rPr kumimoji="1" lang="ko-KR" altLang="en-US" dirty="0"/>
              <a:t>김재영 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2019 | 04</a:t>
            </a: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" name="Straight Connector 20"/>
          <p:cNvCxnSpPr/>
          <p:nvPr/>
        </p:nvCxnSpPr>
        <p:spPr>
          <a:xfrm flipH="1">
            <a:off x="3224808" y="4429257"/>
            <a:ext cx="6228000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51" y="4553619"/>
            <a:ext cx="4941367" cy="123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8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2BEF978-2C38-4EF6-82A9-65765CF0C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2132856"/>
            <a:ext cx="3994308" cy="429060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8103290-4496-4D4B-B172-D18070796900}"/>
              </a:ext>
            </a:extLst>
          </p:cNvPr>
          <p:cNvSpPr/>
          <p:nvPr/>
        </p:nvSpPr>
        <p:spPr>
          <a:xfrm>
            <a:off x="2470313" y="694043"/>
            <a:ext cx="5742277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Rest API </a:t>
            </a:r>
          </a:p>
          <a:p>
            <a:pPr algn="ctr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API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란 주고받을 수 있는 데이터와 데이터를 어떻게 주고 받는지 정리해 둔 것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이것을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REST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 방식으로 주고받으면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REST API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 한다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775BB8-1FEE-4D9D-8833-2AF61E430B72}"/>
              </a:ext>
            </a:extLst>
          </p:cNvPr>
          <p:cNvSpPr txBox="1"/>
          <p:nvPr/>
        </p:nvSpPr>
        <p:spPr>
          <a:xfrm>
            <a:off x="848544" y="1772816"/>
            <a:ext cx="3994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4E40B-28BD-4B25-9409-DD2B8C0CF775}"/>
              </a:ext>
            </a:extLst>
          </p:cNvPr>
          <p:cNvSpPr txBox="1"/>
          <p:nvPr/>
        </p:nvSpPr>
        <p:spPr>
          <a:xfrm>
            <a:off x="6177136" y="1772816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REST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EAE735-CC5C-4AE5-8B5F-8FBBF3BD8795}"/>
              </a:ext>
            </a:extLst>
          </p:cNvPr>
          <p:cNvSpPr/>
          <p:nvPr/>
        </p:nvSpPr>
        <p:spPr>
          <a:xfrm>
            <a:off x="5058417" y="2355240"/>
            <a:ext cx="4953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dirty="0">
                <a:solidFill>
                  <a:srgbClr val="616F81"/>
                </a:solidFill>
                <a:latin typeface="Courier"/>
              </a:rPr>
              <a:t>POST</a:t>
            </a:r>
            <a:r>
              <a:rPr lang="en-US" altLang="ko-KR" sz="1100" dirty="0">
                <a:solidFill>
                  <a:srgbClr val="333333"/>
                </a:solidFill>
                <a:latin typeface="Courier"/>
              </a:rPr>
              <a:t> /</a:t>
            </a:r>
            <a:r>
              <a:rPr lang="en-US" altLang="ko-KR" sz="1100" dirty="0" err="1">
                <a:solidFill>
                  <a:schemeClr val="accent5"/>
                </a:solidFill>
                <a:latin typeface="Courier"/>
              </a:rPr>
              <a:t>api</a:t>
            </a:r>
            <a:r>
              <a:rPr lang="en-US" altLang="ko-KR" sz="1100" dirty="0">
                <a:solidFill>
                  <a:schemeClr val="accent5"/>
                </a:solidFill>
                <a:latin typeface="Courier"/>
              </a:rPr>
              <a:t>/</a:t>
            </a:r>
            <a:r>
              <a:rPr lang="en-US" altLang="ko-KR" sz="1100" i="1" dirty="0" err="1">
                <a:solidFill>
                  <a:schemeClr val="accent5"/>
                </a:solidFill>
                <a:latin typeface="Courier"/>
              </a:rPr>
              <a:t>api</a:t>
            </a:r>
            <a:r>
              <a:rPr lang="en-US" altLang="ko-KR" sz="1100" i="1" dirty="0">
                <a:solidFill>
                  <a:schemeClr val="accent5"/>
                </a:solidFill>
                <a:latin typeface="Courier"/>
              </a:rPr>
              <a:t>-version</a:t>
            </a:r>
            <a:r>
              <a:rPr lang="en-US" altLang="ko-KR" sz="1100" dirty="0">
                <a:solidFill>
                  <a:schemeClr val="accent5"/>
                </a:solidFill>
                <a:latin typeface="Courier"/>
              </a:rPr>
              <a:t>/sites/</a:t>
            </a:r>
            <a:r>
              <a:rPr lang="en-US" altLang="ko-KR" sz="1100" i="1" dirty="0">
                <a:solidFill>
                  <a:schemeClr val="accent5"/>
                </a:solidFill>
                <a:latin typeface="Courier"/>
              </a:rPr>
              <a:t>site-id</a:t>
            </a:r>
            <a:r>
              <a:rPr lang="en-US" altLang="ko-KR" sz="1100" dirty="0">
                <a:solidFill>
                  <a:schemeClr val="accent5"/>
                </a:solidFill>
                <a:latin typeface="Courier"/>
              </a:rPr>
              <a:t>/workbooks</a:t>
            </a:r>
            <a:endParaRPr lang="ko-KR" altLang="en-US" sz="1100" dirty="0">
              <a:solidFill>
                <a:schemeClr val="accent5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18AEC5-EFC8-428B-A874-9EEC87819749}"/>
              </a:ext>
            </a:extLst>
          </p:cNvPr>
          <p:cNvSpPr/>
          <p:nvPr/>
        </p:nvSpPr>
        <p:spPr>
          <a:xfrm>
            <a:off x="5058417" y="2093630"/>
            <a:ext cx="4953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 dirty="0">
                <a:solidFill>
                  <a:srgbClr val="333333"/>
                </a:solidFill>
                <a:latin typeface="Courier"/>
              </a:rPr>
              <a:t> </a:t>
            </a:r>
            <a:r>
              <a:rPr lang="ko-KR" altLang="en-US" sz="1100" dirty="0">
                <a:solidFill>
                  <a:schemeClr val="tx2"/>
                </a:solidFill>
                <a:latin typeface="Courier"/>
              </a:rPr>
              <a:t>행위</a:t>
            </a:r>
            <a:r>
              <a:rPr lang="en-US" altLang="ko-KR" sz="1100" dirty="0">
                <a:solidFill>
                  <a:srgbClr val="333333"/>
                </a:solidFill>
                <a:latin typeface="Courier"/>
              </a:rPr>
              <a:t> /</a:t>
            </a:r>
            <a:r>
              <a:rPr lang="ko-KR" altLang="en-US" sz="1100" dirty="0">
                <a:solidFill>
                  <a:schemeClr val="accent5"/>
                </a:solidFill>
                <a:latin typeface="Courier"/>
              </a:rPr>
              <a:t>자원</a:t>
            </a:r>
            <a:r>
              <a:rPr lang="en-US" altLang="ko-KR" sz="1100" dirty="0">
                <a:solidFill>
                  <a:schemeClr val="accent5"/>
                </a:solidFill>
                <a:latin typeface="Courier"/>
              </a:rPr>
              <a:t>(</a:t>
            </a:r>
            <a:r>
              <a:rPr lang="en-US" altLang="ko-KR" sz="1100" dirty="0" err="1">
                <a:solidFill>
                  <a:schemeClr val="accent5"/>
                </a:solidFill>
                <a:latin typeface="Courier"/>
              </a:rPr>
              <a:t>url</a:t>
            </a:r>
            <a:r>
              <a:rPr lang="en-US" altLang="ko-KR" sz="1100" dirty="0">
                <a:solidFill>
                  <a:schemeClr val="accent5"/>
                </a:solidFill>
                <a:latin typeface="Courier"/>
              </a:rPr>
              <a:t>)</a:t>
            </a:r>
            <a:endParaRPr lang="ko-KR" altLang="en-US" sz="11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27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7871E803-A2F1-44AB-8350-7CD61A6B8ACE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8F086C-E4C5-4556-90F7-CD59BE732C8F}"/>
              </a:ext>
            </a:extLst>
          </p:cNvPr>
          <p:cNvSpPr/>
          <p:nvPr/>
        </p:nvSpPr>
        <p:spPr>
          <a:xfrm>
            <a:off x="344274" y="603853"/>
            <a:ext cx="13382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목차</a:t>
            </a:r>
            <a:endParaRPr lang="ko-KR" altLang="en-US" sz="4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D531F6-E91C-404A-A700-31533DB8D3D1}"/>
              </a:ext>
            </a:extLst>
          </p:cNvPr>
          <p:cNvSpPr txBox="1"/>
          <p:nvPr/>
        </p:nvSpPr>
        <p:spPr>
          <a:xfrm>
            <a:off x="2504728" y="836712"/>
            <a:ext cx="7658779" cy="5753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과제접근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문제해결에 필요한 요소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BootStrap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이용한 포탈 제작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 err="1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BoothStrap</a:t>
            </a: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이란</a:t>
            </a: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 err="1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BoothStrap</a:t>
            </a: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적용 방법</a:t>
            </a:r>
            <a:endParaRPr lang="en-US" altLang="ko-KR" sz="160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Access Token</a:t>
            </a:r>
            <a:b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 token </a:t>
            </a:r>
            <a:r>
              <a:rPr lang="ko-KR" altLang="en-US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무엇인가</a:t>
            </a: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b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 token</a:t>
            </a:r>
            <a:r>
              <a:rPr lang="ko-KR" altLang="en-US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받아오는 과정</a:t>
            </a:r>
            <a:b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 token</a:t>
            </a:r>
            <a:r>
              <a:rPr lang="ko-KR" altLang="en-US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이용한 서버 정보 추출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GetTicket</a:t>
            </a:r>
            <a:b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 Ticket </a:t>
            </a:r>
            <a:r>
              <a:rPr lang="ko-KR" altLang="en-US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무엇인가</a:t>
            </a: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b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 Ticket</a:t>
            </a:r>
            <a:r>
              <a:rPr lang="ko-KR" altLang="en-US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이용하여 </a:t>
            </a:r>
            <a:r>
              <a:rPr lang="en-US" altLang="ko-KR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view </a:t>
            </a:r>
            <a:r>
              <a:rPr lang="ko-KR" altLang="en-US" sz="1600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접근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400050" indent="-400050">
              <a:lnSpc>
                <a:spcPct val="250000"/>
              </a:lnSpc>
              <a:buFont typeface="+mj-lt"/>
              <a:buAutoNum type="romanU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요약 및 결론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255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제목 34"/>
          <p:cNvSpPr>
            <a:spLocks noGrp="1"/>
          </p:cNvSpPr>
          <p:nvPr>
            <p:ph type="title"/>
          </p:nvPr>
        </p:nvSpPr>
        <p:spPr>
          <a:xfrm>
            <a:off x="269247" y="754146"/>
            <a:ext cx="9368976" cy="308134"/>
          </a:xfrm>
        </p:spPr>
        <p:txBody>
          <a:bodyPr>
            <a:noAutofit/>
          </a:bodyPr>
          <a:lstStyle/>
          <a:p>
            <a:r>
              <a:rPr lang="en-US" altLang="ko-KR" sz="1800" dirty="0"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+mn-ea"/>
                <a:ea typeface="+mn-ea"/>
              </a:rPr>
              <a:t>1-1. </a:t>
            </a:r>
            <a:r>
              <a:rPr lang="ko-KR" altLang="en-US" sz="1600" dirty="0">
                <a:solidFill>
                  <a:srgbClr val="0033CC"/>
                </a:solidFill>
                <a:latin typeface="+mn-ea"/>
                <a:ea typeface="+mn-ea"/>
              </a:rPr>
              <a:t>문제 </a:t>
            </a:r>
            <a:br>
              <a:rPr lang="en-US" altLang="ko-KR" sz="1800" dirty="0">
                <a:latin typeface="+mn-ea"/>
                <a:ea typeface="+mn-ea"/>
              </a:rPr>
            </a:br>
            <a:br>
              <a:rPr lang="en-US" altLang="ko-KR" sz="1800" dirty="0">
                <a:latin typeface="+mn-ea"/>
                <a:ea typeface="+mn-ea"/>
              </a:rPr>
            </a:br>
            <a:r>
              <a:rPr lang="en-US" altLang="ko-KR" sz="1800" dirty="0">
                <a:latin typeface="+mn-ea"/>
                <a:ea typeface="+mn-ea"/>
              </a:rPr>
              <a:t>   Rest API </a:t>
            </a:r>
            <a:r>
              <a:rPr lang="ko-KR" altLang="en-US" sz="1800" dirty="0">
                <a:latin typeface="+mn-ea"/>
                <a:ea typeface="+mn-ea"/>
              </a:rPr>
              <a:t>를 이용하여 포탈샘플을 구성하기</a:t>
            </a:r>
            <a:r>
              <a:rPr lang="en-US" altLang="ko-KR" sz="1800" dirty="0">
                <a:latin typeface="+mn-ea"/>
                <a:ea typeface="+mn-ea"/>
              </a:rPr>
              <a:t>. </a:t>
            </a:r>
            <a:br>
              <a:rPr lang="en-US" altLang="ko-KR" sz="1800" dirty="0">
                <a:latin typeface="+mn-ea"/>
                <a:ea typeface="+mn-ea"/>
              </a:rPr>
            </a:br>
            <a:r>
              <a:rPr lang="en-US" altLang="ko-KR" sz="1800" dirty="0">
                <a:latin typeface="+mn-ea"/>
                <a:ea typeface="+mn-ea"/>
              </a:rPr>
              <a:t>   </a:t>
            </a:r>
            <a:r>
              <a:rPr lang="ko-KR" altLang="en-US" sz="1800" dirty="0" err="1">
                <a:latin typeface="+mn-ea"/>
                <a:ea typeface="+mn-ea"/>
              </a:rPr>
              <a:t>테블로</a:t>
            </a:r>
            <a:r>
              <a:rPr lang="ko-KR" altLang="en-US" sz="1800" dirty="0">
                <a:latin typeface="+mn-ea"/>
                <a:ea typeface="+mn-ea"/>
              </a:rPr>
              <a:t> 서버에 있는 프로젝트 통합문서 리스트를 가져오고 뷰 페이지를 연결</a:t>
            </a:r>
            <a:br>
              <a:rPr lang="en-US" altLang="ko-KR" sz="1800" dirty="0">
                <a:latin typeface="+mn-ea"/>
                <a:ea typeface="+mn-ea"/>
              </a:rPr>
            </a:br>
            <a:r>
              <a:rPr lang="en-US" altLang="ko-KR" sz="1800" dirty="0">
                <a:latin typeface="+mn-ea"/>
                <a:ea typeface="+mn-ea"/>
              </a:rPr>
              <a:t>   </a:t>
            </a:r>
            <a:br>
              <a:rPr lang="en-US" altLang="ko-KR" sz="1800" dirty="0">
                <a:latin typeface="+mn-ea"/>
                <a:ea typeface="+mn-ea"/>
              </a:rPr>
            </a:br>
            <a:br>
              <a:rPr lang="en-US" altLang="ko-KR" sz="1800" dirty="0">
                <a:latin typeface="+mn-ea"/>
                <a:ea typeface="+mn-ea"/>
              </a:rPr>
            </a:br>
            <a:br>
              <a:rPr lang="en-US" altLang="ko-KR" sz="1800" dirty="0">
                <a:latin typeface="+mn-ea"/>
                <a:ea typeface="+mn-ea"/>
              </a:rPr>
            </a:br>
            <a:r>
              <a:rPr lang="en-US" altLang="ko-KR" sz="1600" dirty="0">
                <a:solidFill>
                  <a:srgbClr val="0033CC"/>
                </a:solidFill>
                <a:latin typeface="+mn-ea"/>
                <a:ea typeface="+mn-ea"/>
              </a:rPr>
              <a:t> 1-2. </a:t>
            </a:r>
            <a:r>
              <a:rPr lang="ko-KR" altLang="en-US" sz="1600" dirty="0">
                <a:solidFill>
                  <a:srgbClr val="0033CC"/>
                </a:solidFill>
                <a:latin typeface="+mn-ea"/>
                <a:ea typeface="+mn-ea"/>
              </a:rPr>
              <a:t>문제해결에 필요한 요소 </a:t>
            </a:r>
            <a:br>
              <a:rPr lang="en-US" altLang="ko-KR" sz="1800" dirty="0">
                <a:latin typeface="+mn-ea"/>
                <a:ea typeface="+mn-ea"/>
              </a:rPr>
            </a:br>
            <a:br>
              <a:rPr lang="en-US" altLang="ko-KR" sz="1800" dirty="0">
                <a:latin typeface="+mn-ea"/>
                <a:ea typeface="+mn-ea"/>
              </a:rPr>
            </a:br>
            <a:r>
              <a:rPr lang="en-US" altLang="ko-KR" sz="1800" dirty="0">
                <a:latin typeface="+mn-ea"/>
                <a:ea typeface="+mn-ea"/>
              </a:rPr>
              <a:t>    </a:t>
            </a:r>
            <a:r>
              <a:rPr lang="en-US" altLang="ko-KR" sz="1800" dirty="0">
                <a:latin typeface="+mn-ea"/>
              </a:rPr>
              <a:t>1)</a:t>
            </a:r>
            <a:r>
              <a:rPr lang="ko-KR" altLang="en-US" sz="1800" dirty="0">
                <a:latin typeface="+mn-ea"/>
              </a:rPr>
              <a:t> 포탈 만들기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BootStrap</a:t>
            </a:r>
            <a:r>
              <a:rPr lang="en-US" altLang="ko-KR" sz="1800" dirty="0">
                <a:latin typeface="+mn-ea"/>
              </a:rPr>
              <a:t>)</a:t>
            </a:r>
            <a:br>
              <a:rPr lang="en-US" altLang="ko-KR" sz="1800" dirty="0">
                <a:latin typeface="+mn-ea"/>
                <a:ea typeface="+mn-ea"/>
              </a:rPr>
            </a:br>
            <a:r>
              <a:rPr lang="en-US" altLang="ko-KR" sz="1800" dirty="0">
                <a:latin typeface="+mn-ea"/>
                <a:ea typeface="+mn-ea"/>
              </a:rPr>
              <a:t>	</a:t>
            </a:r>
            <a:br>
              <a:rPr lang="en-US" altLang="ko-KR" sz="1800" dirty="0">
                <a:latin typeface="+mn-ea"/>
                <a:ea typeface="+mn-ea"/>
              </a:rPr>
            </a:br>
            <a:r>
              <a:rPr lang="en-US" altLang="ko-KR" sz="1800" dirty="0">
                <a:latin typeface="+mn-ea"/>
                <a:ea typeface="+mn-ea"/>
              </a:rPr>
              <a:t>    2)</a:t>
            </a:r>
            <a:r>
              <a:rPr lang="ko-KR" altLang="en-US" sz="1800" dirty="0">
                <a:latin typeface="+mn-ea"/>
                <a:ea typeface="+mn-ea"/>
              </a:rPr>
              <a:t> </a:t>
            </a:r>
            <a:r>
              <a:rPr lang="en-US" altLang="ko-KR" sz="1800" dirty="0">
                <a:latin typeface="+mn-ea"/>
                <a:ea typeface="+mn-ea"/>
              </a:rPr>
              <a:t>Access</a:t>
            </a:r>
            <a:r>
              <a:rPr lang="ko-KR" altLang="en-US" sz="1800" dirty="0">
                <a:latin typeface="+mn-ea"/>
                <a:ea typeface="+mn-ea"/>
              </a:rPr>
              <a:t> </a:t>
            </a:r>
            <a:r>
              <a:rPr lang="en-US" altLang="ko-KR" sz="1800" dirty="0">
                <a:latin typeface="+mn-ea"/>
                <a:ea typeface="+mn-ea"/>
              </a:rPr>
              <a:t>Token , Ticket	</a:t>
            </a:r>
            <a:br>
              <a:rPr lang="en-US" altLang="ko-KR" sz="1800" dirty="0">
                <a:latin typeface="+mn-ea"/>
                <a:ea typeface="+mn-ea"/>
              </a:rPr>
            </a:b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1. </a:t>
            </a:r>
            <a:r>
              <a:rPr lang="ko-KR" altLang="en-US" dirty="0">
                <a:latin typeface="+mn-ea"/>
              </a:rPr>
              <a:t>과제 접근 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7871E803-A2F1-44AB-8350-7CD61A6B8ACE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</p:spTree>
    <p:extLst>
      <p:ext uri="{BB962C8B-B14F-4D97-AF65-F5344CB8AC3E}">
        <p14:creationId xmlns:p14="http://schemas.microsoft.com/office/powerpoint/2010/main" val="2086613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2-1. </a:t>
            </a:r>
            <a:r>
              <a:rPr lang="en-US" altLang="ko-KR" dirty="0" err="1">
                <a:latin typeface="+mn-ea"/>
              </a:rPr>
              <a:t>BootStrap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이란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>
              <a:latin typeface="+mn-ea"/>
            </a:endParaRP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7871E803-A2F1-44AB-8350-7CD61A6B8ACE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FE5354-D3B6-4D47-A032-D3373DB58FEE}"/>
              </a:ext>
            </a:extLst>
          </p:cNvPr>
          <p:cNvSpPr/>
          <p:nvPr/>
        </p:nvSpPr>
        <p:spPr>
          <a:xfrm>
            <a:off x="1290779" y="836712"/>
            <a:ext cx="732444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BootStrap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/>
              <a:t> </a:t>
            </a:r>
            <a:endParaRPr lang="en-US" altLang="ko-KR" dirty="0"/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프론트 엔드 개발을 빠르고 쉽게 할 수 있는 프레임 워크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레이아웃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버튼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입력창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등의 디자인을 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3" tooltip="C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CSS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 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4" tooltip="JavaScrip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JavaScript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만들어 놓은 것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0838AA-5347-464A-91C2-D8DC11434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6" y="2084227"/>
            <a:ext cx="80486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68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7EC464C-15CB-4654-BA8B-07DADE69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92" y="2204864"/>
            <a:ext cx="8240016" cy="260119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8C9F9C3-F839-4450-9247-DC0C502CBD38}"/>
              </a:ext>
            </a:extLst>
          </p:cNvPr>
          <p:cNvSpPr/>
          <p:nvPr/>
        </p:nvSpPr>
        <p:spPr>
          <a:xfrm>
            <a:off x="2731590" y="620688"/>
            <a:ext cx="42530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부트스트랩을 사용해서 만든 포탈 기본 화면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A9A8EF-268D-45BC-B873-398367613E86}"/>
              </a:ext>
            </a:extLst>
          </p:cNvPr>
          <p:cNvSpPr/>
          <p:nvPr/>
        </p:nvSpPr>
        <p:spPr>
          <a:xfrm>
            <a:off x="832992" y="2924944"/>
            <a:ext cx="447600" cy="5040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FC313BC-18B7-4C23-9C31-5F7CA6D324DF}"/>
              </a:ext>
            </a:extLst>
          </p:cNvPr>
          <p:cNvCxnSpPr/>
          <p:nvPr/>
        </p:nvCxnSpPr>
        <p:spPr>
          <a:xfrm flipH="1" flipV="1">
            <a:off x="1280592" y="3438500"/>
            <a:ext cx="1872208" cy="194421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E5143E4-231B-4B8A-90D6-1F441ECF9F2F}"/>
              </a:ext>
            </a:extLst>
          </p:cNvPr>
          <p:cNvSpPr txBox="1"/>
          <p:nvPr/>
        </p:nvSpPr>
        <p:spPr>
          <a:xfrm>
            <a:off x="3008784" y="5313019"/>
            <a:ext cx="842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좌측에 네비게이션 바를 두고 프로젝트</a:t>
            </a:r>
            <a:r>
              <a:rPr lang="en-US" altLang="ko-KR" sz="14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, workbook, view </a:t>
            </a:r>
            <a:r>
              <a:rPr lang="ko-KR" altLang="en-US" sz="14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에 접근할 수 있도록 하였다</a:t>
            </a:r>
            <a:r>
              <a:rPr lang="en-US" altLang="ko-KR" sz="14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.</a:t>
            </a:r>
            <a:endParaRPr lang="ko-KR" altLang="en-US" sz="1400" dirty="0"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sp>
        <p:nvSpPr>
          <p:cNvPr id="20" name="텍스트 개체 틀 3">
            <a:extLst>
              <a:ext uri="{FF2B5EF4-FFF2-40B4-BE49-F238E27FC236}">
                <a16:creationId xmlns:a16="http://schemas.microsoft.com/office/drawing/2014/main" id="{B271BC75-9DA8-405F-B3E1-3E2C39A32E0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69247" y="205856"/>
            <a:ext cx="4588887" cy="289903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2-1. </a:t>
            </a:r>
            <a:r>
              <a:rPr lang="en-US" altLang="ko-KR" dirty="0" err="1">
                <a:latin typeface="+mn-ea"/>
              </a:rPr>
              <a:t>BootStrap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이란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7511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5876667-955B-4D1A-9764-0C6062F81CE2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174567EF-E0C3-4885-A4B4-97CF9096C3C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69247" y="205856"/>
            <a:ext cx="4588887" cy="289903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3-2. token</a:t>
            </a:r>
            <a:r>
              <a:rPr lang="ko-KR" altLang="en-US" dirty="0">
                <a:latin typeface="+mn-ea"/>
              </a:rPr>
              <a:t>이란 무엇인가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364FF-9F05-45EF-837A-534DBE95B1C0}"/>
              </a:ext>
            </a:extLst>
          </p:cNvPr>
          <p:cNvSpPr txBox="1"/>
          <p:nvPr/>
        </p:nvSpPr>
        <p:spPr>
          <a:xfrm>
            <a:off x="273050" y="692696"/>
            <a:ext cx="9358764" cy="3232987"/>
          </a:xfrm>
          <a:prstGeom prst="rect">
            <a:avLst/>
          </a:prstGeom>
          <a:noFill/>
        </p:spPr>
        <p:txBody>
          <a:bodyPr wrap="square" tIns="108000" rtlCol="0">
            <a:spAutoFit/>
          </a:bodyPr>
          <a:lstStyle/>
          <a:p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Authentication Token :</a:t>
            </a:r>
          </a:p>
          <a:p>
            <a:endParaRPr lang="en-US" altLang="ko-KR" dirty="0"/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테블로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서버에 접근할 수 있는 인증 키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dirty="0"/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-Rest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api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바탕으로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테블로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서버 정보를 얻기 위해서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token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값이 필요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dirty="0"/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토큰 값을 받기 위해서 필요한 정보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테블로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서버에 접근 가능한 계정정보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(id, password)</a:t>
            </a: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2.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접근하고자 하는 사이트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url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(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ContentUrl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760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3-2. token </a:t>
            </a:r>
            <a:r>
              <a:rPr lang="ko-KR" altLang="en-US" dirty="0" err="1">
                <a:latin typeface="+mn-ea"/>
              </a:rPr>
              <a:t>받아오기</a:t>
            </a:r>
            <a:endParaRPr lang="ko-KR" altLang="en-US" dirty="0">
              <a:latin typeface="+mn-ea"/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5876667-955B-4D1A-9764-0C6062F81CE2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E3B845-F869-4EF1-9AAA-76A870351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696" y="1021791"/>
            <a:ext cx="5328594" cy="21270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11FDFC7-1CB3-46D3-9F91-0790E826F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09" y="4330439"/>
            <a:ext cx="9630434" cy="7512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8EC9DED-1125-468C-B32A-1E894D2A5DB5}"/>
              </a:ext>
            </a:extLst>
          </p:cNvPr>
          <p:cNvSpPr txBox="1"/>
          <p:nvPr/>
        </p:nvSpPr>
        <p:spPr>
          <a:xfrm>
            <a:off x="3645866" y="760180"/>
            <a:ext cx="2808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request</a:t>
            </a:r>
            <a:endParaRPr lang="ko-KR" altLang="en-US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50275-09B7-4A33-81C1-0675C9E285C0}"/>
              </a:ext>
            </a:extLst>
          </p:cNvPr>
          <p:cNvSpPr txBox="1"/>
          <p:nvPr/>
        </p:nvSpPr>
        <p:spPr>
          <a:xfrm>
            <a:off x="3645866" y="4073549"/>
            <a:ext cx="2808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response</a:t>
            </a:r>
            <a:endParaRPr lang="ko-KR" altLang="en-US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80FFBAF-6DE9-417E-899A-9029F3545273}"/>
              </a:ext>
            </a:extLst>
          </p:cNvPr>
          <p:cNvCxnSpPr>
            <a:cxnSpLocks/>
          </p:cNvCxnSpPr>
          <p:nvPr/>
        </p:nvCxnSpPr>
        <p:spPr>
          <a:xfrm>
            <a:off x="3638770" y="2708920"/>
            <a:ext cx="30611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15E4EF5A-F9A5-4E78-805D-2509EE157A48}"/>
              </a:ext>
            </a:extLst>
          </p:cNvPr>
          <p:cNvCxnSpPr>
            <a:cxnSpLocks/>
          </p:cNvCxnSpPr>
          <p:nvPr/>
        </p:nvCxnSpPr>
        <p:spPr>
          <a:xfrm>
            <a:off x="4487749" y="2708920"/>
            <a:ext cx="55517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724CDE1-5ACA-4C3E-9195-270367A2F8AA}"/>
              </a:ext>
            </a:extLst>
          </p:cNvPr>
          <p:cNvCxnSpPr>
            <a:cxnSpLocks/>
          </p:cNvCxnSpPr>
          <p:nvPr/>
        </p:nvCxnSpPr>
        <p:spPr>
          <a:xfrm>
            <a:off x="3339748" y="2852936"/>
            <a:ext cx="61223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C86D1C3-2EB3-42D4-8881-7270C4F220A8}"/>
              </a:ext>
            </a:extLst>
          </p:cNvPr>
          <p:cNvGrpSpPr/>
          <p:nvPr/>
        </p:nvGrpSpPr>
        <p:grpSpPr>
          <a:xfrm>
            <a:off x="4858134" y="3159512"/>
            <a:ext cx="5855506" cy="246221"/>
            <a:chOff x="4858134" y="3159512"/>
            <a:chExt cx="5855506" cy="246221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DCBA5F4E-2B50-4796-979F-3726C09A9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8134" y="3159512"/>
              <a:ext cx="5855506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*</a:t>
              </a:r>
              <a:r>
                <a:rPr kumimoji="0" lang="en-US" altLang="ko-KR" sz="1000" b="0" i="0" u="none" strike="noStrike" cap="none" normalizeH="0" baseline="0" dirty="0" err="1">
                  <a:ln>
                    <a:noFill/>
                  </a:ln>
                  <a:solidFill>
                    <a:srgbClr val="333333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ContentUrl</a:t>
              </a:r>
              <a:r>
                <a:rPr kumimoji="0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 </a:t>
              </a:r>
              <a:r>
                <a:rPr kumimoji="0" lang="ko-KR" altLang="ko-KR" sz="1000" b="0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http://MyServer/#/site/</a:t>
              </a:r>
              <a:r>
                <a:rPr kumimoji="0" lang="ko-KR" altLang="ko-KR" sz="1000" b="1" u="none" strike="noStrike" cap="none" normalizeH="0" baseline="0" dirty="0">
                  <a:ln>
                    <a:noFill/>
                  </a:ln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MarketingTeam</a:t>
              </a:r>
              <a:r>
                <a:rPr kumimoji="0" lang="ko-KR" altLang="ko-KR" sz="1000" b="0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/projects</a:t>
              </a:r>
              <a:r>
                <a:rPr kumimoji="0" lang="ko-KR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50B5BD0E-4334-4CD5-A099-9B31C0990542}"/>
                </a:ext>
              </a:extLst>
            </p:cNvPr>
            <p:cNvCxnSpPr>
              <a:cxnSpLocks/>
            </p:cNvCxnSpPr>
            <p:nvPr/>
          </p:nvCxnSpPr>
          <p:spPr>
            <a:xfrm>
              <a:off x="7041232" y="3356992"/>
              <a:ext cx="100811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E70C7F4-0B32-4E7D-B802-EC67FDCC519B}"/>
              </a:ext>
            </a:extLst>
          </p:cNvPr>
          <p:cNvCxnSpPr>
            <a:cxnSpLocks/>
          </p:cNvCxnSpPr>
          <p:nvPr/>
        </p:nvCxnSpPr>
        <p:spPr>
          <a:xfrm>
            <a:off x="1424608" y="4653136"/>
            <a:ext cx="324036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55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5876667-955B-4D1A-9764-0C6062F81CE2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174567EF-E0C3-4885-A4B4-97CF9096C3C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69247" y="205856"/>
            <a:ext cx="4588887" cy="289903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3-3. token</a:t>
            </a:r>
            <a:r>
              <a:rPr lang="ko-KR" altLang="en-US" dirty="0">
                <a:latin typeface="+mn-ea"/>
              </a:rPr>
              <a:t>을 사용하여 필요한 정보 추출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4CC7873-7DB1-4641-9B39-F2FA898E2BE6}"/>
              </a:ext>
            </a:extLst>
          </p:cNvPr>
          <p:cNvGrpSpPr/>
          <p:nvPr/>
        </p:nvGrpSpPr>
        <p:grpSpPr>
          <a:xfrm>
            <a:off x="829953" y="1504104"/>
            <a:ext cx="8028890" cy="544332"/>
            <a:chOff x="843689" y="1368406"/>
            <a:chExt cx="8028890" cy="54433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ED57DE-656A-49F0-B65B-6CA4FE524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689" y="1368406"/>
              <a:ext cx="8028890" cy="54433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6557F26-55C9-40A7-8A7D-FBDFCCEF6E97}"/>
                </a:ext>
              </a:extLst>
            </p:cNvPr>
            <p:cNvSpPr/>
            <p:nvPr/>
          </p:nvSpPr>
          <p:spPr>
            <a:xfrm>
              <a:off x="3680061" y="1391749"/>
              <a:ext cx="1368152" cy="2490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131623-A845-4507-B747-23512EFF5B34}"/>
              </a:ext>
            </a:extLst>
          </p:cNvPr>
          <p:cNvGrpSpPr/>
          <p:nvPr/>
        </p:nvGrpSpPr>
        <p:grpSpPr>
          <a:xfrm>
            <a:off x="843690" y="2830464"/>
            <a:ext cx="8028890" cy="598536"/>
            <a:chOff x="843689" y="2348880"/>
            <a:chExt cx="8028890" cy="59853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8D35C37-7EDA-4183-A178-7E57F7315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3689" y="2348880"/>
              <a:ext cx="8028890" cy="598536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EBA6B12-CC23-4018-91B4-FC080BCE6F42}"/>
                </a:ext>
              </a:extLst>
            </p:cNvPr>
            <p:cNvSpPr/>
            <p:nvPr/>
          </p:nvSpPr>
          <p:spPr>
            <a:xfrm>
              <a:off x="2936776" y="2366556"/>
              <a:ext cx="1021848" cy="3266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5CE942-A46E-419F-8CD5-C03803DB84D9}"/>
              </a:ext>
            </a:extLst>
          </p:cNvPr>
          <p:cNvGrpSpPr/>
          <p:nvPr/>
        </p:nvGrpSpPr>
        <p:grpSpPr>
          <a:xfrm>
            <a:off x="801099" y="4230448"/>
            <a:ext cx="8028891" cy="860710"/>
            <a:chOff x="843688" y="4318712"/>
            <a:chExt cx="8028891" cy="86071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D5159D6-74C7-4F27-A9AD-D687C06C0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3688" y="4318712"/>
              <a:ext cx="8028891" cy="860710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9386BA7-259A-4A4D-AC70-8CDD739A862F}"/>
                </a:ext>
              </a:extLst>
            </p:cNvPr>
            <p:cNvSpPr/>
            <p:nvPr/>
          </p:nvSpPr>
          <p:spPr>
            <a:xfrm>
              <a:off x="2979435" y="4318712"/>
              <a:ext cx="2333606" cy="32204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FFD1871-387C-490E-9154-1B8152C2ACAB}"/>
              </a:ext>
            </a:extLst>
          </p:cNvPr>
          <p:cNvSpPr txBox="1"/>
          <p:nvPr/>
        </p:nvSpPr>
        <p:spPr>
          <a:xfrm>
            <a:off x="785115" y="2066112"/>
            <a:ext cx="9055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*Credential :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getToken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메서드를 내장한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class</a:t>
            </a:r>
          </a:p>
          <a:p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FFCC50-C3A2-4A95-9937-4E4BDAF2B1BC}"/>
              </a:ext>
            </a:extLst>
          </p:cNvPr>
          <p:cNvSpPr txBox="1"/>
          <p:nvPr/>
        </p:nvSpPr>
        <p:spPr>
          <a:xfrm>
            <a:off x="785115" y="3452335"/>
            <a:ext cx="9055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CurrentSiteId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currentUrl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E0AB2A-4584-405C-8203-4BA773365A46}"/>
              </a:ext>
            </a:extLst>
          </p:cNvPr>
          <p:cNvSpPr txBox="1"/>
          <p:nvPr/>
        </p:nvSpPr>
        <p:spPr>
          <a:xfrm>
            <a:off x="273050" y="692696"/>
            <a:ext cx="9358764" cy="432220"/>
          </a:xfrm>
          <a:prstGeom prst="rect">
            <a:avLst/>
          </a:prstGeom>
          <a:noFill/>
        </p:spPr>
        <p:txBody>
          <a:bodyPr wrap="square" tIns="108000" rtlCol="0">
            <a:spAutoFit/>
          </a:bodyPr>
          <a:lstStyle/>
          <a:p>
            <a:pPr algn="ctr"/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RestAPI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이용하여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project, workbook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리스트 가져오기 </a:t>
            </a:r>
          </a:p>
        </p:txBody>
      </p:sp>
    </p:spTree>
    <p:extLst>
      <p:ext uri="{BB962C8B-B14F-4D97-AF65-F5344CB8AC3E}">
        <p14:creationId xmlns:p14="http://schemas.microsoft.com/office/powerpoint/2010/main" val="404492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5876667-955B-4D1A-9764-0C6062F81CE2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174567EF-E0C3-4885-A4B4-97CF9096C3C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69247" y="205856"/>
            <a:ext cx="4588887" cy="289903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3-3. token</a:t>
            </a:r>
            <a:r>
              <a:rPr lang="ko-KR" altLang="en-US" dirty="0">
                <a:latin typeface="+mn-ea"/>
              </a:rPr>
              <a:t>을 사용하여 필요한 정보 추출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19C8B28-BCBC-4882-B2B9-AEDCD70CB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3" y="1916832"/>
            <a:ext cx="9816073" cy="3096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1E12C7-D26C-412A-9387-6015467841C6}"/>
              </a:ext>
            </a:extLst>
          </p:cNvPr>
          <p:cNvSpPr txBox="1"/>
          <p:nvPr/>
        </p:nvSpPr>
        <p:spPr>
          <a:xfrm>
            <a:off x="0" y="1480138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API </a:t>
            </a:r>
            <a:r>
              <a:rPr lang="ko-KR" altLang="en-US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를 이용하여 실제 구현한 화면</a:t>
            </a:r>
            <a:r>
              <a:rPr lang="en-US" altLang="ko-KR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	</a:t>
            </a:r>
            <a:endParaRPr lang="ko-KR" altLang="en-US" sz="800" dirty="0"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01EFD-E230-4B83-8BD9-4922220CECAF}"/>
              </a:ext>
            </a:extLst>
          </p:cNvPr>
          <p:cNvSpPr txBox="1"/>
          <p:nvPr/>
        </p:nvSpPr>
        <p:spPr>
          <a:xfrm>
            <a:off x="7041232" y="5013176"/>
            <a:ext cx="3107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*view, </a:t>
            </a:r>
            <a:r>
              <a:rPr lang="en-US" altLang="ko-KR" sz="800" dirty="0" err="1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DataSource</a:t>
            </a:r>
            <a:r>
              <a:rPr lang="en-US" altLang="ko-KR" sz="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, Date </a:t>
            </a:r>
            <a:r>
              <a:rPr lang="ko-KR" altLang="en-US" sz="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는 </a:t>
            </a:r>
            <a:r>
              <a:rPr lang="en-US" altLang="ko-KR" sz="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API </a:t>
            </a:r>
            <a:r>
              <a:rPr lang="ko-KR" altLang="en-US" sz="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연동하지 않아 </a:t>
            </a:r>
            <a:r>
              <a:rPr lang="en-US" altLang="ko-KR" sz="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default </a:t>
            </a:r>
            <a:r>
              <a:rPr lang="ko-KR" altLang="en-US" sz="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로 둠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635191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4-1. Ticket </a:t>
            </a:r>
            <a:r>
              <a:rPr lang="ko-KR" altLang="en-US" dirty="0">
                <a:latin typeface="+mn-ea"/>
              </a:rPr>
              <a:t>이 무엇인가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>
              <a:latin typeface="+mn-ea"/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5876667-955B-4D1A-9764-0C6062F81CE2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64C6E-AA39-444B-900D-040E94F692D5}"/>
              </a:ext>
            </a:extLst>
          </p:cNvPr>
          <p:cNvSpPr txBox="1"/>
          <p:nvPr/>
        </p:nvSpPr>
        <p:spPr>
          <a:xfrm>
            <a:off x="361643" y="1246232"/>
            <a:ext cx="9362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lang="ko-KR" altLang="en-US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인증 받은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사용자에게 서버가 전달해 주는 식별자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”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</a:p>
          <a:p>
            <a:pPr marL="2514600" lvl="5" indent="-228600">
              <a:buAutoNum type="arabicPeriod"/>
            </a:pP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포탈이 서버에서 신뢰할 수 있는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(trusted) IP</a:t>
            </a:r>
          </a:p>
          <a:p>
            <a:pPr marL="2514600" lvl="5" indent="-228600">
              <a:buAutoNum type="arabicPeriod"/>
            </a:pP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tableau server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라이센스가 있다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B26E0-34A5-4251-888F-6337D9F04A6C}"/>
              </a:ext>
            </a:extLst>
          </p:cNvPr>
          <p:cNvSpPr txBox="1"/>
          <p:nvPr/>
        </p:nvSpPr>
        <p:spPr>
          <a:xfrm>
            <a:off x="836286" y="2132856"/>
            <a:ext cx="9055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포탈 사용자는 포탈에 로그인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View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보기 위해 다시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tableau Server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로그인 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1EFFEF7-C39A-4F96-A208-B0832100E9CD}"/>
              </a:ext>
            </a:extLst>
          </p:cNvPr>
          <p:cNvCxnSpPr>
            <a:cxnSpLocks/>
          </p:cNvCxnSpPr>
          <p:nvPr/>
        </p:nvCxnSpPr>
        <p:spPr>
          <a:xfrm>
            <a:off x="836286" y="2564904"/>
            <a:ext cx="623820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545F1A7-1EEA-41B9-B97A-131C1C2A3E8C}"/>
              </a:ext>
            </a:extLst>
          </p:cNvPr>
          <p:cNvCxnSpPr>
            <a:cxnSpLocks/>
          </p:cNvCxnSpPr>
          <p:nvPr/>
        </p:nvCxnSpPr>
        <p:spPr>
          <a:xfrm>
            <a:off x="836286" y="2636912"/>
            <a:ext cx="623820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89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4-1. Ticket </a:t>
            </a:r>
            <a:r>
              <a:rPr lang="ko-KR" altLang="en-US" dirty="0">
                <a:latin typeface="+mn-ea"/>
              </a:rPr>
              <a:t>이 작동하는 원리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5876667-955B-4D1A-9764-0C6062F81CE2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  <p:pic>
        <p:nvPicPr>
          <p:cNvPr id="1026" name="Picture 2" descr="https://onlinehelp.tableau.com/current/server/en-us/Img/trusted_auth_666x421.png">
            <a:extLst>
              <a:ext uri="{FF2B5EF4-FFF2-40B4-BE49-F238E27FC236}">
                <a16:creationId xmlns:a16="http://schemas.microsoft.com/office/drawing/2014/main" id="{20469D57-A177-4C3C-9E28-E782F42E0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429" y="1628800"/>
            <a:ext cx="6002995" cy="379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051729-160C-4D50-98C7-AC53D37F7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096" y="3888799"/>
            <a:ext cx="2154328" cy="1370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CBFC77-6F9B-4EA3-A86B-7A9FBDBCE933}"/>
              </a:ext>
            </a:extLst>
          </p:cNvPr>
          <p:cNvSpPr txBox="1"/>
          <p:nvPr/>
        </p:nvSpPr>
        <p:spPr>
          <a:xfrm>
            <a:off x="3440832" y="3068960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Post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문 전달</a:t>
            </a:r>
            <a:endParaRPr lang="en-US" altLang="ko-KR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(username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포함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7620B3-3D48-454A-BE61-1B2D61A57263}"/>
              </a:ext>
            </a:extLst>
          </p:cNvPr>
          <p:cNvSpPr txBox="1"/>
          <p:nvPr/>
        </p:nvSpPr>
        <p:spPr>
          <a:xfrm>
            <a:off x="4378653" y="3861048"/>
            <a:ext cx="95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웹 페이지 방문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2C1CAA-BBC5-4FAA-A769-A367702169B4}"/>
              </a:ext>
            </a:extLst>
          </p:cNvPr>
          <p:cNvSpPr txBox="1"/>
          <p:nvPr/>
        </p:nvSpPr>
        <p:spPr>
          <a:xfrm>
            <a:off x="2360712" y="2060848"/>
            <a:ext cx="1355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호스트 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IP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확인 후 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ticket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14B3C-1D1E-44BB-B95B-D409537F7EDF}"/>
              </a:ext>
            </a:extLst>
          </p:cNvPr>
          <p:cNvSpPr txBox="1"/>
          <p:nvPr/>
        </p:nvSpPr>
        <p:spPr>
          <a:xfrm>
            <a:off x="4180581" y="4797152"/>
            <a:ext cx="1355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클라이언트 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HTML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티켓과 뷰의 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URL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전달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E9EBDC-9766-4D1D-9140-6BBDE0CFA427}"/>
              </a:ext>
            </a:extLst>
          </p:cNvPr>
          <p:cNvSpPr txBox="1"/>
          <p:nvPr/>
        </p:nvSpPr>
        <p:spPr>
          <a:xfrm>
            <a:off x="5042926" y="3160227"/>
            <a:ext cx="13551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URL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GET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3DEF49-9137-46AE-A5D8-7738EE99D1D6}"/>
              </a:ext>
            </a:extLst>
          </p:cNvPr>
          <p:cNvSpPr txBox="1"/>
          <p:nvPr/>
        </p:nvSpPr>
        <p:spPr>
          <a:xfrm>
            <a:off x="5817096" y="2214737"/>
            <a:ext cx="13551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확인 후 뷰 전달</a:t>
            </a:r>
          </a:p>
        </p:txBody>
      </p:sp>
    </p:spTree>
    <p:extLst>
      <p:ext uri="{BB962C8B-B14F-4D97-AF65-F5344CB8AC3E}">
        <p14:creationId xmlns:p14="http://schemas.microsoft.com/office/powerpoint/2010/main" val="377280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34">
            <a:extLst>
              <a:ext uri="{FF2B5EF4-FFF2-40B4-BE49-F238E27FC236}">
                <a16:creationId xmlns:a16="http://schemas.microsoft.com/office/drawing/2014/main" id="{55A65ED1-D8A4-43F1-9F43-90869AEB7F07}"/>
              </a:ext>
            </a:extLst>
          </p:cNvPr>
          <p:cNvSpPr txBox="1">
            <a:spLocks/>
          </p:cNvSpPr>
          <p:nvPr/>
        </p:nvSpPr>
        <p:spPr>
          <a:xfrm>
            <a:off x="488504" y="2492896"/>
            <a:ext cx="8640960" cy="4041908"/>
          </a:xfrm>
          <a:prstGeom prst="rect">
            <a:avLst/>
          </a:prstGeom>
        </p:spPr>
        <p:txBody>
          <a:bodyPr vert="horz" lIns="36000" tIns="45720" rIns="36000" bIns="45720" rtlCol="0" anchor="t">
            <a:noAutofit/>
          </a:bodyPr>
          <a:lstStyle>
            <a:lvl1pPr algn="l" defTabSz="91440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 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5876667-955B-4D1A-9764-0C6062F81CE2}"/>
              </a:ext>
            </a:extLst>
          </p:cNvPr>
          <p:cNvSpPr txBox="1">
            <a:spLocks/>
          </p:cNvSpPr>
          <p:nvPr/>
        </p:nvSpPr>
        <p:spPr>
          <a:xfrm>
            <a:off x="5042927" y="205855"/>
            <a:ext cx="4588887" cy="2899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6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3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6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0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12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15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18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21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24" indent="0" algn="l" defTabSz="914406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latin typeface="+mn-ea"/>
              </a:rPr>
              <a:t>모든 서버에서 작업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428F373-2537-41D9-BC81-FD8B4D6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592" y="1066139"/>
            <a:ext cx="7902961" cy="42818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Ticket </a:t>
            </a:r>
            <a:r>
              <a:rPr lang="ko-KR" altLang="en-US" dirty="0"/>
              <a:t>값을 받아오고 </a:t>
            </a:r>
            <a:r>
              <a:rPr lang="en-US" altLang="ko-KR" dirty="0"/>
              <a:t>view </a:t>
            </a:r>
            <a:r>
              <a:rPr lang="ko-KR" altLang="en-US" dirty="0"/>
              <a:t>페이지를 클라이언트에</a:t>
            </a:r>
            <a:r>
              <a:rPr lang="en-US" altLang="ko-KR" dirty="0"/>
              <a:t> </a:t>
            </a:r>
            <a:r>
              <a:rPr lang="ko-KR" altLang="en-US" dirty="0"/>
              <a:t>전달하는 기능 구현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B27198F4-8080-45F1-9084-5B8AE388156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69247" y="205856"/>
            <a:ext cx="4588887" cy="289903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 err="1">
                <a:latin typeface="+mn-ea"/>
              </a:rPr>
              <a:t>공부해야할</a:t>
            </a:r>
            <a:r>
              <a:rPr lang="ko-KR" altLang="en-US" dirty="0">
                <a:latin typeface="+mn-ea"/>
              </a:rPr>
              <a:t> 점</a:t>
            </a:r>
          </a:p>
        </p:txBody>
      </p:sp>
    </p:spTree>
    <p:extLst>
      <p:ext uri="{BB962C8B-B14F-4D97-AF65-F5344CB8AC3E}">
        <p14:creationId xmlns:p14="http://schemas.microsoft.com/office/powerpoint/2010/main" val="30312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150089"/>
      </p:ext>
    </p:extLst>
  </p:cSld>
  <p:clrMapOvr>
    <a:masterClrMapping/>
  </p:clrMapOvr>
</p:sld>
</file>

<file path=ppt/theme/theme1.xml><?xml version="1.0" encoding="utf-8"?>
<a:theme xmlns:a="http://schemas.openxmlformats.org/drawingml/2006/main" name="Planit201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13947</TotalTime>
  <Words>436</Words>
  <Application>Microsoft Office PowerPoint</Application>
  <PresentationFormat>A4 용지(210x297mm)</PresentationFormat>
  <Paragraphs>105</Paragraphs>
  <Slides>14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Arial Unicode MS</vt:lpstr>
      <vt:lpstr>Courier</vt:lpstr>
      <vt:lpstr>NanumBarunGothicOTF</vt:lpstr>
      <vt:lpstr>NanumBarunGothicOTF Light</vt:lpstr>
      <vt:lpstr>나눔스퀘어</vt:lpstr>
      <vt:lpstr>나눔스퀘어 Bold</vt:lpstr>
      <vt:lpstr>나눔스퀘어 ExtraBold</vt:lpstr>
      <vt:lpstr>나눔스퀘어OTF ExtraBold</vt:lpstr>
      <vt:lpstr>맑은 고딕</vt:lpstr>
      <vt:lpstr>Arial</vt:lpstr>
      <vt:lpstr>Planit2016</vt:lpstr>
      <vt:lpstr>Rest API를 활용한 Portal Sample 구성(Javja)</vt:lpstr>
      <vt:lpstr>PowerPoint 프레젠테이션</vt:lpstr>
      <vt:lpstr>PowerPoint 프레젠테이션</vt:lpstr>
      <vt:lpstr> 1-1. 문제      Rest API 를 이용하여 포탈샘플을 구성하기.     테블로 서버에 있는 프로젝트 통합문서 리스트를 가져오고 뷰 페이지를 연결        1-2. 문제해결에 필요한 요소       1) 포탈 만들기(BootStrap)       2) Access Token , Ticket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Ticket 값을 받아오고 view 페이지를 클라이언트에 전달하는 기능 구현</vt:lpstr>
      <vt:lpstr>PowerPoint 프레젠테이션</vt:lpstr>
    </vt:vector>
  </TitlesOfParts>
  <Company>DFOCUS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KimKyoungLim</dc:creator>
  <cp:lastModifiedBy>김 재영</cp:lastModifiedBy>
  <cp:revision>1434</cp:revision>
  <dcterms:created xsi:type="dcterms:W3CDTF">2014-06-17T06:38:08Z</dcterms:created>
  <dcterms:modified xsi:type="dcterms:W3CDTF">2019-04-16T01:00:08Z</dcterms:modified>
</cp:coreProperties>
</file>